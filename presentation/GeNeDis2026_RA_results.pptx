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RA multi-omics 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Individual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020"/>
                </a:solidFill>
                <a:latin typeface="Arial"/>
              </a:defRPr>
            </a:pPr>
            <a:r>
              <a:t>Genetic association, macrophage states</a:t>
            </a:r>
          </a:p>
          <a:p>
            <a:pPr>
              <a:spcAft>
                <a:spcPts val="1400"/>
              </a:spcAft>
              <a:defRPr sz="3200" b="1">
                <a:solidFill>
                  <a:srgbClr val="202020"/>
                </a:solidFill>
                <a:latin typeface="Arial"/>
              </a:defRPr>
            </a:pPr>
            <a:r>
              <a:t>and the limits of evidence in public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02020"/>
                </a:solidFill>
                <a:latin typeface="Arial"/>
              </a:defRPr>
            </a:pPr>
            <a:r>
              <a:t>Xia Wu</a:t>
            </a:r>
          </a:p>
          <a:p>
            <a:pPr>
              <a:spcAft>
                <a:spcPts val="1400"/>
              </a:spcAft>
              <a:defRPr sz="2200" b="0">
                <a:solidFill>
                  <a:srgbClr val="202020"/>
                </a:solidFill>
                <a:latin typeface="Arial"/>
              </a:defRPr>
            </a:pPr>
            <a:r>
              <a:t>PhD student, University of Iowa</a:t>
            </a:r>
          </a:p>
          <a:p>
            <a:pPr>
              <a:spcAft>
                <a:spcPts val="1400"/>
              </a:spcAft>
              <a:defRPr sz="2200" b="0">
                <a:solidFill>
                  <a:srgbClr val="202020"/>
                </a:solidFill>
                <a:latin typeface="Arial"/>
              </a:defRPr>
            </a:pPr>
            <a:r>
              <a:t>xwu76@uiowa.edu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06060"/>
                </a:solidFill>
                <a:latin typeface="Arial"/>
              </a:defRPr>
            </a:pPr>
            <a:r>
              <a:t>Open data · Reproducible workflow · Nature-style data figures</a:t>
            </a:r>
          </a:p>
          <a:p>
            <a:pPr>
              <a:spcAft>
                <a:spcPts val="1400"/>
              </a:spcAft>
              <a:defRPr sz="1800" b="0">
                <a:solidFill>
                  <a:srgbClr val="606060"/>
                </a:solidFill>
                <a:latin typeface="Arial"/>
              </a:defRPr>
            </a:pPr>
            <a:r>
              <a:t>Exploratory RA integration with an NSCLC extension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The scores used in this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Score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S1 · 15 discovery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96012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From sorted active/remission macrophages. Used for exploratory transfer and anti-TNF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S2 · 10 predefined IFN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Associations in spatial tissue and across bulk disease stages. Only 2 genes overlap with S1.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Hallmark IFN-gamma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2900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Pathway and protein evidence. Specificity is supported in lining, not in sublining.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M-6 / Tph · 30 genes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6634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Programmes from atlas states, transferred to the fluid and lung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Published atlas states and tested integration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Fig1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31,520 nuclei from 12 donors. RNA and ATAC are measured in the same nuclei.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Fine-state labels, including the 65-nucleus M-6, are taken from Gupta et al.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Concatenation and WNN rank highest in this benchmark. Rare M-6 neighbourhoods favour RNA alone.</a:t>
            </a:r>
          </a:p>
        </p:txBody>
      </p:sp>
      <p:pic>
        <p:nvPicPr>
          <p:cNvPr id="6" name="Picture 5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623" y="822960"/>
            <a:ext cx="648083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Genetic enrichment and spatial neighbourhood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Fig2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Tph/Treg-associated chromatin is enriched for RA heritability.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S-LDSC and scDRS are complementary methods that use the same GWAS traits.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More B cells sit near CXCL13-positive T cells in 4/4 sections.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empirical global-permutation P does not account for label clustering or tissue compartments.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73" y="822960"/>
            <a:ext cx="6058733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Separate discovery, tissue and treatment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Fig3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S1 maps to M-6. Its donor inflammation and bulk RA/OA validation tests are negative.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S2 shows spatial and bulk disease-stage associations.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Protein points and test use the same donor averages: 6 RA versus 3 healthy.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S1 falls in good responders, but the change is not significantly different from nonresponders.</a:t>
            </a:r>
          </a:p>
        </p:txBody>
      </p:sp>
      <p:pic>
        <p:nvPicPr>
          <p:cNvPr id="6" name="Picture 5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73" y="822960"/>
            <a:ext cx="6058733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Candidate regulators and expression-associated genetic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Fig4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TF screen: two donors with M-6 and BH-adjusted gene-label permutations. Two-donor uncertainty remains.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IRF5 colocalisation supports a shared association signal.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Wald ratios cannot estimate drug efficacy or rule out pleiotropy.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Abatacept binds CD80/CD86. IL6ST is not IL6R, the target of tocilizumab.</a:t>
            </a:r>
          </a:p>
        </p:txBody>
      </p:sp>
      <p:pic>
        <p:nvPicPr>
          <p:cNvPr id="6" name="Picture 5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73" y="822960"/>
            <a:ext cx="6058733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Baselines and boundary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ExtData_Fig1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Classifiers fit all preprocessing on training data only and use repeated nested CV.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199 label permutations repeat the same tuning and resampling as the observed model.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Random controls match the number of retained prioritised genes in each training fold.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Limits in blood transfer, response prediction, deconvolution and trajectory are all reported.</a:t>
            </a:r>
          </a:p>
        </p:txBody>
      </p:sp>
      <p:pic>
        <p:nvPicPr>
          <p:cNvPr id="6" name="Picture 5" descr="ExtData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73" y="822960"/>
            <a:ext cx="6058733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Exploratory transfer to synovial fluid and NSCLC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ExtData_Fig2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Fluid: 9 paired patients, two therapies pooled. No response labels are available.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The M-6-like fraction falls in 7/9 patients, but the paired pseudobulk-score test is not significant.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LuCA: the M-6 score is higher in tumour in 20/29 paired donors.</a:t>
            </a:r>
          </a:p>
          <a:p>
            <a:pPr>
              <a:spcAft>
                <a:spcPts val="1400"/>
              </a:spcAft>
              <a:defRPr sz="1800" b="0">
                <a:solidFill>
                  <a:srgbClr val="202020"/>
                </a:solidFill>
                <a:latin typeface="Arial"/>
              </a:defRPr>
            </a:pPr>
            <a:r>
              <a:t>Tph coupling P = 0.092. The primary TCGA survival tests are negative.</a:t>
            </a:r>
          </a:p>
        </p:txBody>
      </p:sp>
      <p:pic>
        <p:nvPicPr>
          <p:cNvPr id="6" name="Picture 5" descr="ExtData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73" y="822960"/>
            <a:ext cx="6058733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Internal classifiers: final held-out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Nested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606060"/>
                </a:solidFill>
                <a:latin typeface="Arial"/>
              </a:defRPr>
            </a:pPr>
            <a:r>
              <a:t>Mean AUC across 25 outer folds. All fitted transformations stay inside the training folds.</a:t>
            </a:r>
          </a:p>
          <a:p>
            <a:pPr>
              <a:spcAft>
                <a:spcPts val="200"/>
              </a:spcAft>
              <a:defRPr sz="1600" b="0">
                <a:solidFill>
                  <a:srgbClr val="606060"/>
                </a:solidFill>
                <a:latin typeface="Arial"/>
              </a:defRPr>
            </a:pPr>
            <a:r>
              <a:t>F0 covariates · F1 programmes · F2 prioritised genes · F3 genome-wide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RA vs 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F0  0.574 ± 0.143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F1  0.900 ± 0.048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741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F2  0.933 ± 0.042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41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F3  0.979 ± 0.029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404040"/>
                </a:solidFill>
                <a:latin typeface="Arial"/>
              </a:defRPr>
            </a:pPr>
            <a:r>
              <a:t>F1 permutation p 0.005</a:t>
            </a:r>
          </a:p>
          <a:p>
            <a:pPr>
              <a:spcAft>
                <a:spcPts val="1400"/>
              </a:spcAft>
              <a:defRPr sz="1600" b="0">
                <a:solidFill>
                  <a:srgbClr val="404040"/>
                </a:solidFill>
                <a:latin typeface="Arial"/>
              </a:defRPr>
            </a:pPr>
            <a:r>
              <a:t>F2 vs random empirical p 0.2475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02020"/>
                </a:solidFill>
                <a:latin typeface="Arial"/>
              </a:defRPr>
            </a:pPr>
            <a:r>
              <a:t>ACPA+ vs ACPA- (RA)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F0  0.332 ± 0.079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07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F1  0.797 ± 0.062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741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F2  0.647 ± 0.083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41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202020"/>
                </a:solidFill>
                <a:latin typeface="Arial"/>
              </a:defRPr>
            </a:pPr>
            <a:r>
              <a:t>F3  0.726 ± 0.089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634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0">
                <a:solidFill>
                  <a:srgbClr val="404040"/>
                </a:solidFill>
                <a:latin typeface="Arial"/>
              </a:defRPr>
            </a:pPr>
            <a:r>
              <a:t>F1 permutation p 0.005</a:t>
            </a:r>
          </a:p>
          <a:p>
            <a:pPr>
              <a:spcAft>
                <a:spcPts val="1400"/>
              </a:spcAft>
              <a:defRPr sz="1600" b="0">
                <a:solidFill>
                  <a:srgbClr val="404040"/>
                </a:solidFill>
                <a:latin typeface="Arial"/>
              </a:defRPr>
            </a:pPr>
            <a:r>
              <a:t>F2 vs random empirical p 0.5149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06060"/>
                </a:solidFill>
                <a:latin typeface="Arial"/>
              </a:defRPr>
            </a:pPr>
            <a:r>
              <a:t>SD across correlated folds is not a confidence interval. No external clinical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What the data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202020"/>
                </a:solidFill>
                <a:latin typeface="Arial"/>
              </a:defRPr>
            </a:pPr>
            <a:r>
              <a:t>A reproducible map of complementary RA associations and candidate targets for follow-up.</a:t>
            </a:r>
          </a:p>
          <a:p>
            <a:pPr>
              <a:spcAft>
                <a:spcPts val="1400"/>
              </a:spcAft>
              <a:defRPr sz="2600" b="0">
                <a:solidFill>
                  <a:srgbClr val="202020"/>
                </a:solidFill>
                <a:latin typeface="Arial"/>
              </a:defRPr>
            </a:pPr>
            <a:r>
              <a:t>Score definitions, cohort independence and strength of evidence are kept separate.</a:t>
            </a:r>
          </a:p>
          <a:p>
            <a:pPr>
              <a:spcAft>
                <a:spcPts val="1400"/>
              </a:spcAft>
              <a:defRPr sz="2600" b="0">
                <a:solidFill>
                  <a:srgbClr val="202020"/>
                </a:solidFill>
                <a:latin typeface="Arial"/>
              </a:defRPr>
            </a:pPr>
            <a:r>
              <a:t>Published states and original discoveries are clearly credited to their sources.</a:t>
            </a:r>
          </a:p>
          <a:p>
            <a:pPr>
              <a:spcAft>
                <a:spcPts val="1400"/>
              </a:spcAft>
              <a:defRPr sz="2600" b="0">
                <a:solidFill>
                  <a:srgbClr val="202020"/>
                </a:solidFill>
                <a:latin typeface="Arial"/>
              </a:defRPr>
            </a:pPr>
            <a:r>
              <a:t>Causal regulation, therapeutic efficacy and clinical prediction need further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Reproducibility and submission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202020"/>
                </a:solidFill>
                <a:latin typeface="Arial"/>
              </a:defRPr>
            </a:pPr>
            <a:r>
              <a:t>The full pipeline was rerun from raw inputs in a separate project. Run logs and a comparison report come with the submission.</a:t>
            </a:r>
          </a:p>
          <a:p>
            <a:pPr>
              <a:spcAft>
                <a:spcPts val="1400"/>
              </a:spcAft>
              <a:defRPr sz="2300" b="0">
                <a:solidFill>
                  <a:srgbClr val="202020"/>
                </a:solidFill>
                <a:latin typeface="Arial"/>
              </a:defRPr>
            </a:pPr>
            <a:r>
              <a:t>Saved copies of the API/GMT/eQTL inputs keep the reference version, including Open Targets 26.09.</a:t>
            </a:r>
          </a:p>
          <a:p>
            <a:pPr>
              <a:spcAft>
                <a:spcPts val="1400"/>
              </a:spcAft>
              <a:defRPr sz="2300" b="0">
                <a:solidFill>
                  <a:srgbClr val="202020"/>
                </a:solidFill>
                <a:latin typeface="Arial"/>
              </a:defRPr>
            </a:pPr>
            <a:r>
              <a:t>A quick check verifies hashes, reruns three small analyses and draws six figures without the large raw/interim data.</a:t>
            </a:r>
          </a:p>
          <a:p>
            <a:pPr>
              <a:spcAft>
                <a:spcPts val="1400"/>
              </a:spcAft>
              <a:defRPr sz="2300" b="0">
                <a:solidFill>
                  <a:srgbClr val="202020"/>
                </a:solidFill>
                <a:latin typeface="Arial"/>
              </a:defRPr>
            </a:pPr>
            <a:r>
              <a:t>README · Sources · Code · Processed tables · QC report · Limits · Presentation · Manifest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202020"/>
                </a:solidFill>
                <a:latin typeface="Arial"/>
              </a:defRPr>
            </a:pPr>
            <a:r>
              <a:t>Sources and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GeNeDis 2026  |  Xia Wu · University of Iowa  | 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0606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Gupta et al., Nature Genetics 2023: GSE243917 atlas and author-defined states.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Alivernini et al., Nature Medicine 2020: E-MTAB-8322 discovery cohort.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GSE198520 / GSE89408: independent bulk cohorts.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GSE347958 / GSE347797 / PXD062696: shared spatial/protein cohort.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GSE296117 / LuCA / TCGA: exploratory extensions.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All accessions and licences: docs/sources.tsv</a:t>
            </a:r>
          </a:p>
          <a:p>
            <a:pPr>
              <a:spcAft>
                <a:spcPts val="1400"/>
              </a:spcAft>
              <a:defRPr sz="2000" b="0">
                <a:solidFill>
                  <a:srgbClr val="202020"/>
                </a:solidFill>
                <a:latin typeface="Arial"/>
              </a:defRPr>
            </a:pPr>
            <a:r>
              <a:t>Xia Wu · PhD student, University of Iowa · xwu76@uiowa.edu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utral Academic">
      <a:dk1>
        <a:srgbClr val="000000"/>
      </a:dk1>
      <a:lt1>
        <a:srgbClr val="FFFFFF"/>
      </a:lt1>
      <a:dk2>
        <a:srgbClr val="202020"/>
      </a:dk2>
      <a:lt2>
        <a:srgbClr val="F0F0F0"/>
      </a:lt2>
      <a:accent1>
        <a:srgbClr val="303030"/>
      </a:accent1>
      <a:accent2>
        <a:srgbClr val="606060"/>
      </a:accent2>
      <a:accent3>
        <a:srgbClr val="808080"/>
      </a:accent3>
      <a:accent4>
        <a:srgbClr val="A0A0A0"/>
      </a:accent4>
      <a:accent5>
        <a:srgbClr val="404040"/>
      </a:accent5>
      <a:accent6>
        <a:srgbClr val="C0C0C0"/>
      </a:accent6>
      <a:hlink>
        <a:srgbClr val="404040"/>
      </a:hlink>
      <a:folHlink>
        <a:srgbClr val="60606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 multi-omics evidence map (GeNeDis 2026)</dc:title>
  <dc:subject>GeNeDis 2026 Hackathon submission</dc:subject>
  <dc:creator>Xia Wu</dc:creator>
  <cp:keywords/>
  <dc:description/>
  <cp:lastModifiedBy>Xia Wu</cp:lastModifiedBy>
  <cp:revision>1</cp:revision>
  <dcterms:created xsi:type="dcterms:W3CDTF">2026-10-20T12:00:00Z</dcterms:created>
  <dcterms:modified xsi:type="dcterms:W3CDTF">2026-10-20T12:00:00Z</dcterms:modified>
  <cp:category/>
</cp:coreProperties>
</file>