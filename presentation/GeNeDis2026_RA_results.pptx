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46304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1">
                <a:solidFill>
                  <a:srgbClr val="202020"/>
                </a:solidFill>
                <a:latin typeface="Arial"/>
              </a:defRPr>
            </a:pPr>
            <a:r>
              <a:t>RA multi-omics evidence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9672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6060"/>
                </a:solidFill>
                <a:latin typeface="Arial"/>
              </a:defRPr>
            </a:pPr>
            <a:r>
              <a:t>GeNeDis 2026  |  Xia Wu · University of Iowa  |  Individual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6060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07899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200" b="1">
                <a:solidFill>
                  <a:srgbClr val="202020"/>
                </a:solidFill>
                <a:latin typeface="Arial"/>
              </a:defRPr>
            </a:pPr>
            <a:r>
              <a:t>Genetic risk, macrophage states</a:t>
            </a:r>
          </a:p>
          <a:p>
            <a:pPr>
              <a:spcAft>
                <a:spcPts val="1400"/>
              </a:spcAft>
              <a:defRPr sz="3200" b="1">
                <a:solidFill>
                  <a:srgbClr val="202020"/>
                </a:solidFill>
                <a:latin typeface="Arial"/>
              </a:defRPr>
            </a:pPr>
            <a:r>
              <a:t>and tissue inflammation in rheumatoid arthritis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6324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0">
                <a:solidFill>
                  <a:srgbClr val="202020"/>
                </a:solidFill>
                <a:latin typeface="Arial"/>
              </a:defRPr>
            </a:pPr>
            <a:r>
              <a:t>Xia Wu</a:t>
            </a:r>
          </a:p>
          <a:p>
            <a:pPr>
              <a:spcAft>
                <a:spcPts val="1400"/>
              </a:spcAft>
              <a:defRPr sz="2200" b="0">
                <a:solidFill>
                  <a:srgbClr val="202020"/>
                </a:solidFill>
                <a:latin typeface="Arial"/>
              </a:defRPr>
            </a:pPr>
            <a:r>
              <a:t>PhD student, University of Iowa</a:t>
            </a:r>
          </a:p>
          <a:p>
            <a:pPr>
              <a:spcAft>
                <a:spcPts val="1400"/>
              </a:spcAft>
              <a:defRPr sz="2200" b="0">
                <a:solidFill>
                  <a:srgbClr val="202020"/>
                </a:solidFill>
                <a:latin typeface="Arial"/>
              </a:defRPr>
            </a:pPr>
            <a:r>
              <a:t>xwu76@uiowa.edu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1663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0">
                <a:solidFill>
                  <a:srgbClr val="606060"/>
                </a:solidFill>
                <a:latin typeface="Arial"/>
              </a:defRPr>
            </a:pPr>
            <a:r>
              <a:t>Paired RNA/ATAC · Bulk RNA · Spatial transcriptomics · Proteomics</a:t>
            </a:r>
          </a:p>
          <a:p>
            <a:pPr>
              <a:spcAft>
                <a:spcPts val="1400"/>
              </a:spcAft>
              <a:defRPr sz="1800" b="0">
                <a:solidFill>
                  <a:srgbClr val="606060"/>
                </a:solidFill>
                <a:latin typeface="Arial"/>
              </a:defRPr>
            </a:pPr>
            <a:r>
              <a:t>RA synovial tissue, with synovial-fluid and NSCLC comparisons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46304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1">
                <a:solidFill>
                  <a:srgbClr val="202020"/>
                </a:solidFill>
                <a:latin typeface="Arial"/>
              </a:defRPr>
            </a:pPr>
            <a:r>
              <a:t>The scores used in this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9672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6060"/>
                </a:solidFill>
                <a:latin typeface="Arial"/>
              </a:defRPr>
            </a:pPr>
            <a:r>
              <a:t>GeNeDis 2026  |  Xia Wu · University of Iowa  |  Score definitions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6060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202020"/>
                </a:solidFill>
                <a:latin typeface="Arial"/>
              </a:defRPr>
            </a:pPr>
            <a:r>
              <a:t>S1 · 15 discovery genes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960120"/>
            <a:ext cx="7223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0">
                <a:solidFill>
                  <a:srgbClr val="202020"/>
                </a:solidFill>
                <a:latin typeface="Arial"/>
              </a:defRPr>
            </a:pPr>
            <a:r>
              <a:t>From sorted active/remission macrophages. Used for exploratory transfer and anti-TNF change.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202020"/>
                </a:solidFill>
                <a:latin typeface="Arial"/>
              </a:defRPr>
            </a:pPr>
            <a:r>
              <a:t>S2 · 10 predefined IFN genes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194560"/>
            <a:ext cx="7223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0">
                <a:solidFill>
                  <a:srgbClr val="202020"/>
                </a:solidFill>
                <a:latin typeface="Arial"/>
              </a:defRPr>
            </a:pPr>
            <a:r>
              <a:t>Associations in spatial tissue and across bulk disease stages. Only 2 genes overlap with S1.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2900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202020"/>
                </a:solidFill>
                <a:latin typeface="Arial"/>
              </a:defRPr>
            </a:pPr>
            <a:r>
              <a:t>Hallmark IFN-gamma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3429000"/>
            <a:ext cx="7223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0">
                <a:solidFill>
                  <a:srgbClr val="202020"/>
                </a:solidFill>
                <a:latin typeface="Arial"/>
              </a:defRPr>
            </a:pPr>
            <a:r>
              <a:t>Pathway and protein evidence. Specificity is supported in lining, not in sublining.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663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202020"/>
                </a:solidFill>
                <a:latin typeface="Arial"/>
              </a:defRPr>
            </a:pPr>
            <a:r>
              <a:t>M-6 / Tph · 30 genes each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4663440"/>
            <a:ext cx="7223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0">
                <a:solidFill>
                  <a:srgbClr val="202020"/>
                </a:solidFill>
                <a:latin typeface="Arial"/>
              </a:defRPr>
            </a:pPr>
            <a:r>
              <a:t>Programmes from atlas states, transferred to the fluid and lung cohorts.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46304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1">
                <a:solidFill>
                  <a:srgbClr val="202020"/>
                </a:solidFill>
                <a:latin typeface="Arial"/>
              </a:defRPr>
            </a:pPr>
            <a:r>
              <a:t>Published atlas states and tested integration baselines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9672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6060"/>
                </a:solidFill>
                <a:latin typeface="Arial"/>
              </a:defRPr>
            </a:pPr>
            <a:r>
              <a:t>GeNeDis 2026  |  Xia Wu · University of Iowa  |  Fig1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6060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4206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0">
                <a:solidFill>
                  <a:srgbClr val="202020"/>
                </a:solidFill>
                <a:latin typeface="Arial"/>
              </a:defRPr>
            </a:pPr>
            <a:r>
              <a:t>31,520 nuclei from 12 donors. RNA and ATAC are measured in the same nuclei.</a:t>
            </a:r>
          </a:p>
          <a:p>
            <a:pPr>
              <a:spcAft>
                <a:spcPts val="1400"/>
              </a:spcAft>
              <a:defRPr sz="1800" b="0">
                <a:solidFill>
                  <a:srgbClr val="202020"/>
                </a:solidFill>
                <a:latin typeface="Arial"/>
              </a:defRPr>
            </a:pPr>
            <a:r>
              <a:t>Fine-state labels, including the 65-nucleus M-6, are taken from Gupta et al.</a:t>
            </a:r>
          </a:p>
          <a:p>
            <a:pPr>
              <a:spcAft>
                <a:spcPts val="1400"/>
              </a:spcAft>
              <a:defRPr sz="1800" b="0">
                <a:solidFill>
                  <a:srgbClr val="202020"/>
                </a:solidFill>
                <a:latin typeface="Arial"/>
              </a:defRPr>
            </a:pPr>
            <a:r>
              <a:t>Concatenation and WNN rank highest in this benchmark. Rare M-6 neighbourhoods favour RNA alone.</a:t>
            </a:r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623" y="822960"/>
            <a:ext cx="6480832" cy="55961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46304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1">
                <a:solidFill>
                  <a:srgbClr val="202020"/>
                </a:solidFill>
                <a:latin typeface="Arial"/>
              </a:defRPr>
            </a:pPr>
            <a:r>
              <a:t>Genetic enrichment and spatial neighbourhood associations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9672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6060"/>
                </a:solidFill>
                <a:latin typeface="Arial"/>
              </a:defRPr>
            </a:pPr>
            <a:r>
              <a:t>GeNeDis 2026  |  Xia Wu · University of Iowa  |  Fig2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6060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4206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0">
                <a:solidFill>
                  <a:srgbClr val="202020"/>
                </a:solidFill>
                <a:latin typeface="Arial"/>
              </a:defRPr>
            </a:pPr>
            <a:r>
              <a:t>Tph/Treg-associated chromatin is enriched for RA heritability.</a:t>
            </a:r>
          </a:p>
          <a:p>
            <a:pPr>
              <a:spcAft>
                <a:spcPts val="1400"/>
              </a:spcAft>
              <a:defRPr sz="1800" b="0">
                <a:solidFill>
                  <a:srgbClr val="202020"/>
                </a:solidFill>
                <a:latin typeface="Arial"/>
              </a:defRPr>
            </a:pPr>
            <a:r>
              <a:t>S-LDSC and scDRS are complementary methods that use the same GWAS traits.</a:t>
            </a:r>
          </a:p>
          <a:p>
            <a:pPr>
              <a:spcAft>
                <a:spcPts val="1400"/>
              </a:spcAft>
              <a:defRPr sz="1800" b="0">
                <a:solidFill>
                  <a:srgbClr val="202020"/>
                </a:solidFill>
                <a:latin typeface="Arial"/>
              </a:defRPr>
            </a:pPr>
            <a:r>
              <a:t>More B cells sit near CXCL13-positive T cells in 4/4 sections.</a:t>
            </a:r>
          </a:p>
          <a:p>
            <a:pPr>
              <a:spcAft>
                <a:spcPts val="1400"/>
              </a:spcAft>
              <a:defRPr sz="1800" b="0">
                <a:solidFill>
                  <a:srgbClr val="202020"/>
                </a:solidFill>
                <a:latin typeface="Arial"/>
              </a:defRPr>
            </a:pPr>
            <a:r>
              <a:t>The empirical global-permutation P does not account for label clustering or tissue compartments.</a:t>
            </a:r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673" y="822960"/>
            <a:ext cx="6058733" cy="55961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46304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1">
                <a:solidFill>
                  <a:srgbClr val="202020"/>
                </a:solidFill>
                <a:latin typeface="Arial"/>
              </a:defRPr>
            </a:pPr>
            <a:r>
              <a:t>Macrophage signatures across tissue and treatment cohorts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9672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6060"/>
                </a:solidFill>
                <a:latin typeface="Arial"/>
              </a:defRPr>
            </a:pPr>
            <a:r>
              <a:t>GeNeDis 2026  |  Xia Wu · University of Iowa  |  Fig3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6060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4206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0">
                <a:solidFill>
                  <a:srgbClr val="202020"/>
                </a:solidFill>
                <a:latin typeface="Arial"/>
              </a:defRPr>
            </a:pPr>
            <a:r>
              <a:t>S1 maps to M-6. Its donor inflammation and bulk RA/OA validation tests are negative.</a:t>
            </a:r>
          </a:p>
          <a:p>
            <a:pPr>
              <a:spcAft>
                <a:spcPts val="1400"/>
              </a:spcAft>
              <a:defRPr sz="1800" b="0">
                <a:solidFill>
                  <a:srgbClr val="202020"/>
                </a:solidFill>
                <a:latin typeface="Arial"/>
              </a:defRPr>
            </a:pPr>
            <a:r>
              <a:t>S2 shows spatial and bulk disease-stage associations.</a:t>
            </a:r>
          </a:p>
          <a:p>
            <a:pPr>
              <a:spcAft>
                <a:spcPts val="1400"/>
              </a:spcAft>
              <a:defRPr sz="1800" b="0">
                <a:solidFill>
                  <a:srgbClr val="202020"/>
                </a:solidFill>
                <a:latin typeface="Arial"/>
              </a:defRPr>
            </a:pPr>
            <a:r>
              <a:t>Protein points and test use the same donor averages: 6 RA versus 3 healthy.</a:t>
            </a:r>
          </a:p>
          <a:p>
            <a:pPr>
              <a:spcAft>
                <a:spcPts val="1400"/>
              </a:spcAft>
              <a:defRPr sz="1800" b="0">
                <a:solidFill>
                  <a:srgbClr val="202020"/>
                </a:solidFill>
                <a:latin typeface="Arial"/>
              </a:defRPr>
            </a:pPr>
            <a:r>
              <a:t>S1 falls in good responders, but the change is not significantly different from nonresponders.</a:t>
            </a:r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673" y="822960"/>
            <a:ext cx="6058733" cy="55961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46304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1">
                <a:solidFill>
                  <a:srgbClr val="202020"/>
                </a:solidFill>
                <a:latin typeface="Arial"/>
              </a:defRPr>
            </a:pPr>
            <a:r>
              <a:t>Regulatory candidates and genetic associations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9672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6060"/>
                </a:solidFill>
                <a:latin typeface="Arial"/>
              </a:defRPr>
            </a:pPr>
            <a:r>
              <a:t>GeNeDis 2026  |  Xia Wu · University of Iowa  |  Fig4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6060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4206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0">
                <a:solidFill>
                  <a:srgbClr val="202020"/>
                </a:solidFill>
                <a:latin typeface="Arial"/>
              </a:defRPr>
            </a:pPr>
            <a:r>
              <a:t>RNA TF tests use BH adjustment across 464 factors. M-6-bearing units come from two donors.</a:t>
            </a:r>
          </a:p>
          <a:p>
            <a:pPr>
              <a:spcAft>
                <a:spcPts val="1400"/>
              </a:spcAft>
              <a:defRPr sz="1800" b="0">
                <a:solidFill>
                  <a:srgbClr val="202020"/>
                </a:solidFill>
                <a:latin typeface="Arial"/>
              </a:defRPr>
            </a:pPr>
            <a:r>
              <a:t>IRF5 colocalisation supports a shared association signal.</a:t>
            </a:r>
          </a:p>
          <a:p>
            <a:pPr>
              <a:spcAft>
                <a:spcPts val="1400"/>
              </a:spcAft>
              <a:defRPr sz="1800" b="0">
                <a:solidFill>
                  <a:srgbClr val="202020"/>
                </a:solidFill>
                <a:latin typeface="Arial"/>
              </a:defRPr>
            </a:pPr>
            <a:r>
              <a:t>Wald ratios cannot estimate drug efficacy or rule out pleiotropy.</a:t>
            </a:r>
          </a:p>
          <a:p>
            <a:pPr>
              <a:spcAft>
                <a:spcPts val="1400"/>
              </a:spcAft>
              <a:defRPr sz="1800" b="0">
                <a:solidFill>
                  <a:srgbClr val="202020"/>
                </a:solidFill>
                <a:latin typeface="Arial"/>
              </a:defRPr>
            </a:pPr>
            <a:r>
              <a:t>Abatacept binds CD80/CD86. IL6ST is not IL6R, the target of tocilizumab.</a:t>
            </a:r>
          </a:p>
        </p:txBody>
      </p:sp>
      <p:pic>
        <p:nvPicPr>
          <p:cNvPr id="6" name="Picture 5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673" y="822960"/>
            <a:ext cx="6058733" cy="55961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46304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1">
                <a:solidFill>
                  <a:srgbClr val="202020"/>
                </a:solidFill>
                <a:latin typeface="Arial"/>
              </a:defRPr>
            </a:pPr>
            <a:r>
              <a:t>Classification and unsuccessful transfer tests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9672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6060"/>
                </a:solidFill>
                <a:latin typeface="Arial"/>
              </a:defRPr>
            </a:pPr>
            <a:r>
              <a:t>GeNeDis 2026  |  Xia Wu · University of Iowa  |  ExtData_Fig1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6060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4206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0">
                <a:solidFill>
                  <a:srgbClr val="202020"/>
                </a:solidFill>
                <a:latin typeface="Arial"/>
              </a:defRPr>
            </a:pPr>
            <a:r>
              <a:t>Classifiers fit all preprocessing on training data only and use repeated nested CV.</a:t>
            </a:r>
          </a:p>
          <a:p>
            <a:pPr>
              <a:spcAft>
                <a:spcPts val="1400"/>
              </a:spcAft>
              <a:defRPr sz="1800" b="0">
                <a:solidFill>
                  <a:srgbClr val="202020"/>
                </a:solidFill>
                <a:latin typeface="Arial"/>
              </a:defRPr>
            </a:pPr>
            <a:r>
              <a:t>199 label permutations repeat the same tuning and resampling as the observed model.</a:t>
            </a:r>
          </a:p>
          <a:p>
            <a:pPr>
              <a:spcAft>
                <a:spcPts val="1400"/>
              </a:spcAft>
              <a:defRPr sz="1800" b="0">
                <a:solidFill>
                  <a:srgbClr val="202020"/>
                </a:solidFill>
                <a:latin typeface="Arial"/>
              </a:defRPr>
            </a:pPr>
            <a:r>
              <a:t>Random controls match the number of retained prioritised genes in each training fold.</a:t>
            </a:r>
          </a:p>
          <a:p>
            <a:pPr>
              <a:spcAft>
                <a:spcPts val="1400"/>
              </a:spcAft>
              <a:defRPr sz="1800" b="0">
                <a:solidFill>
                  <a:srgbClr val="202020"/>
                </a:solidFill>
                <a:latin typeface="Arial"/>
              </a:defRPr>
            </a:pPr>
            <a:r>
              <a:t>Blood transfer, response prediction, deconvolution and trajectory analyses did not support further claims.</a:t>
            </a:r>
          </a:p>
        </p:txBody>
      </p:sp>
      <p:pic>
        <p:nvPicPr>
          <p:cNvPr id="6" name="Picture 5" descr="ExtData_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673" y="822960"/>
            <a:ext cx="6058733" cy="55961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46304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1">
                <a:solidFill>
                  <a:srgbClr val="202020"/>
                </a:solidFill>
                <a:latin typeface="Arial"/>
              </a:defRPr>
            </a:pPr>
            <a:r>
              <a:t>Exploratory transfer to synovial fluid and NSCLC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9672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6060"/>
                </a:solidFill>
                <a:latin typeface="Arial"/>
              </a:defRPr>
            </a:pPr>
            <a:r>
              <a:t>GeNeDis 2026  |  Xia Wu · University of Iowa  |  ExtData_Fig2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6060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4206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0">
                <a:solidFill>
                  <a:srgbClr val="202020"/>
                </a:solidFill>
                <a:latin typeface="Arial"/>
              </a:defRPr>
            </a:pPr>
            <a:r>
              <a:t>Fluid: 9 paired patients, two therapies pooled. No response labels are available.</a:t>
            </a:r>
          </a:p>
          <a:p>
            <a:pPr>
              <a:spcAft>
                <a:spcPts val="1400"/>
              </a:spcAft>
              <a:defRPr sz="1800" b="0">
                <a:solidFill>
                  <a:srgbClr val="202020"/>
                </a:solidFill>
                <a:latin typeface="Arial"/>
              </a:defRPr>
            </a:pPr>
            <a:r>
              <a:t>The M-6-like fraction falls in 7/9 patients, but the paired pseudobulk-score test is not significant.</a:t>
            </a:r>
          </a:p>
          <a:p>
            <a:pPr>
              <a:spcAft>
                <a:spcPts val="1400"/>
              </a:spcAft>
              <a:defRPr sz="1800" b="0">
                <a:solidFill>
                  <a:srgbClr val="202020"/>
                </a:solidFill>
                <a:latin typeface="Arial"/>
              </a:defRPr>
            </a:pPr>
            <a:r>
              <a:t>LuCA: the M-6 score is higher in tumour in 20/29 paired donors.</a:t>
            </a:r>
          </a:p>
          <a:p>
            <a:pPr>
              <a:spcAft>
                <a:spcPts val="1400"/>
              </a:spcAft>
              <a:defRPr sz="1800" b="0">
                <a:solidFill>
                  <a:srgbClr val="202020"/>
                </a:solidFill>
                <a:latin typeface="Arial"/>
              </a:defRPr>
            </a:pPr>
            <a:r>
              <a:t>Tph coupling P = 0.092. The primary TCGA survival tests are negative.</a:t>
            </a:r>
          </a:p>
        </p:txBody>
      </p:sp>
      <p:pic>
        <p:nvPicPr>
          <p:cNvPr id="6" name="Picture 5" descr="ExtData_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673" y="822960"/>
            <a:ext cx="6058733" cy="55961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46304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1">
                <a:solidFill>
                  <a:srgbClr val="202020"/>
                </a:solidFill>
                <a:latin typeface="Arial"/>
              </a:defRPr>
            </a:pPr>
            <a:r>
              <a:t>Classifier performance in nested cross-validation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9672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6060"/>
                </a:solidFill>
                <a:latin typeface="Arial"/>
              </a:defRPr>
            </a:pPr>
            <a:r>
              <a:t>GeNeDis 2026  |  Xia Wu · University of Iowa  |  Nested CV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6060"/>
                </a:solidFill>
                <a:latin typeface="Arial"/>
              </a:defRPr>
            </a:pPr>
            <a: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 b="0">
                <a:solidFill>
                  <a:srgbClr val="606060"/>
                </a:solidFill>
                <a:latin typeface="Arial"/>
              </a:defRPr>
            </a:pPr>
            <a:r>
              <a:t>Mean AUC across 25 outer folds. All fitted transformations stay inside the training folds.</a:t>
            </a:r>
          </a:p>
          <a:p>
            <a:pPr>
              <a:spcAft>
                <a:spcPts val="200"/>
              </a:spcAft>
              <a:defRPr sz="1600" b="0">
                <a:solidFill>
                  <a:srgbClr val="606060"/>
                </a:solidFill>
                <a:latin typeface="Arial"/>
              </a:defRPr>
            </a:pPr>
            <a:r>
              <a:t>F0 covariates · F1 programmes · F2 prioritised genes · F3 genome-wide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5544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202020"/>
                </a:solidFill>
                <a:latin typeface="Arial"/>
              </a:defRPr>
            </a:pPr>
            <a:r>
              <a:t>RA vs OA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402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202020"/>
                </a:solidFill>
                <a:latin typeface="Arial"/>
              </a:defRPr>
            </a:pPr>
            <a:r>
              <a:t>F0  0.574 ± 0.143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0720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202020"/>
                </a:solidFill>
                <a:latin typeface="Arial"/>
              </a:defRPr>
            </a:pPr>
            <a:r>
              <a:t>F1  0.900 ± 0.048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374136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202020"/>
                </a:solidFill>
                <a:latin typeface="Arial"/>
              </a:defRPr>
            </a:pPr>
            <a:r>
              <a:t>F2  0.933 ± 0.042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941064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202020"/>
                </a:solidFill>
                <a:latin typeface="Arial"/>
              </a:defRPr>
            </a:pPr>
            <a:r>
              <a:t>F3  0.979 ± 0.029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663440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0">
                <a:solidFill>
                  <a:srgbClr val="404040"/>
                </a:solidFill>
                <a:latin typeface="Arial"/>
              </a:defRPr>
            </a:pPr>
            <a:r>
              <a:t>F1 permutation p 0.005</a:t>
            </a:r>
          </a:p>
          <a:p>
            <a:pPr>
              <a:spcAft>
                <a:spcPts val="1400"/>
              </a:spcAft>
              <a:defRPr sz="1600" b="0">
                <a:solidFill>
                  <a:srgbClr val="404040"/>
                </a:solidFill>
                <a:latin typeface="Arial"/>
              </a:defRPr>
            </a:pPr>
            <a:r>
              <a:t>F2 vs random empirical p 0.2475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5544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202020"/>
                </a:solidFill>
                <a:latin typeface="Arial"/>
              </a:defRPr>
            </a:pPr>
            <a:r>
              <a:t>ACPA+ vs ACPA- (RA)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2402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202020"/>
                </a:solidFill>
                <a:latin typeface="Arial"/>
              </a:defRPr>
            </a:pPr>
            <a:r>
              <a:t>F0  0.332 ± 0.079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80720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202020"/>
                </a:solidFill>
                <a:latin typeface="Arial"/>
              </a:defRPr>
            </a:pPr>
            <a:r>
              <a:t>F1  0.797 ± 0.062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374136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202020"/>
                </a:solidFill>
                <a:latin typeface="Arial"/>
              </a:defRPr>
            </a:pPr>
            <a:r>
              <a:t>F2  0.647 ± 0.083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941064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202020"/>
                </a:solidFill>
                <a:latin typeface="Arial"/>
              </a:defRPr>
            </a:pPr>
            <a:r>
              <a:t>F3  0.726 ± 0.089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663440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0">
                <a:solidFill>
                  <a:srgbClr val="404040"/>
                </a:solidFill>
                <a:latin typeface="Arial"/>
              </a:defRPr>
            </a:pPr>
            <a:r>
              <a:t>F1 permutation p 0.005</a:t>
            </a:r>
          </a:p>
          <a:p>
            <a:pPr>
              <a:spcAft>
                <a:spcPts val="1400"/>
              </a:spcAft>
              <a:defRPr sz="1600" b="0">
                <a:solidFill>
                  <a:srgbClr val="404040"/>
                </a:solidFill>
                <a:latin typeface="Arial"/>
              </a:defRPr>
            </a:pPr>
            <a:r>
              <a:t>F2 vs random empirical p 0.5149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0">
                <a:solidFill>
                  <a:srgbClr val="606060"/>
                </a:solidFill>
                <a:latin typeface="Arial"/>
              </a:defRPr>
            </a:pPr>
            <a:r>
              <a:t>SD across correlated folds is not a confidence interval. No external clinical validation.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46304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1">
                <a:solidFill>
                  <a:srgbClr val="202020"/>
                </a:solidFill>
                <a:latin typeface="Arial"/>
              </a:defRPr>
            </a:pPr>
            <a:r>
              <a:t>Main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9672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6060"/>
                </a:solidFill>
                <a:latin typeface="Arial"/>
              </a:defRPr>
            </a:pPr>
            <a:r>
              <a:t>GeNeDis 2026  |  Xia Wu · University of Iowa  |  Interpretation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6060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600" b="0">
                <a:solidFill>
                  <a:srgbClr val="202020"/>
                </a:solidFill>
                <a:latin typeface="Arial"/>
              </a:defRPr>
            </a:pPr>
            <a:r>
              <a:t>RA heritability is enriched in T-cell chromatin; spatial and protein measurements show IFN-associated tissue patterns.</a:t>
            </a:r>
          </a:p>
          <a:p>
            <a:pPr>
              <a:spcAft>
                <a:spcPts val="1400"/>
              </a:spcAft>
              <a:defRPr sz="2600" b="0">
                <a:solidFill>
                  <a:srgbClr val="202020"/>
                </a:solidFill>
                <a:latin typeface="Arial"/>
              </a:defRPr>
            </a:pPr>
            <a:r>
              <a:t>The S1 macrophage signature fails independent inflammation and bulk RA/OA tests.</a:t>
            </a:r>
          </a:p>
          <a:p>
            <a:pPr>
              <a:spcAft>
                <a:spcPts val="1400"/>
              </a:spcAft>
              <a:defRPr sz="2600" b="0">
                <a:solidFill>
                  <a:srgbClr val="202020"/>
                </a:solidFill>
                <a:latin typeface="Arial"/>
              </a:defRPr>
            </a:pPr>
            <a:r>
              <a:t>Prioritised genes do not outperform matched random gene sets in either classification task.</a:t>
            </a:r>
          </a:p>
          <a:p>
            <a:pPr>
              <a:spcAft>
                <a:spcPts val="1400"/>
              </a:spcAft>
              <a:defRPr sz="2600" b="0">
                <a:solidFill>
                  <a:srgbClr val="202020"/>
                </a:solidFill>
                <a:latin typeface="Arial"/>
              </a:defRPr>
            </a:pPr>
            <a:r>
              <a:t>Shared samples and limited donor numbers restrict replication. Mechanisms and clinical utility remain untested.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46304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1">
                <a:solidFill>
                  <a:srgbClr val="202020"/>
                </a:solidFill>
                <a:latin typeface="Arial"/>
              </a:defRPr>
            </a:pPr>
            <a:r>
              <a:t>Reproducing the analyses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9672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6060"/>
                </a:solidFill>
                <a:latin typeface="Arial"/>
              </a:defRPr>
            </a:pPr>
            <a:r>
              <a:t>GeNeDis 2026  |  Xia Wu · University of Iowa  | 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6060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 b="0">
                <a:solidFill>
                  <a:srgbClr val="202020"/>
                </a:solidFill>
                <a:latin typeface="Arial"/>
              </a:defRPr>
            </a:pPr>
            <a:r>
              <a:t>Full run: 43 ordered invocations in a clean analysis directory. Environments and external-tool versions are recorded.</a:t>
            </a:r>
          </a:p>
          <a:p>
            <a:pPr>
              <a:spcAft>
                <a:spcPts val="1400"/>
              </a:spcAft>
              <a:defRPr sz="2300" b="0">
                <a:solidFill>
                  <a:srgbClr val="202020"/>
                </a:solidFill>
                <a:latin typeface="Arial"/>
              </a:defRPr>
            </a:pPr>
            <a:r>
              <a:t>The reference snapshot includes API/GMT/eQTL inputs and Open Targets 26.09, with per-file checksums.</a:t>
            </a:r>
          </a:p>
          <a:p>
            <a:pPr>
              <a:spcAft>
                <a:spcPts val="1400"/>
              </a:spcAft>
              <a:defRPr sz="2300" b="0">
                <a:solidFill>
                  <a:srgbClr val="202020"/>
                </a:solidFill>
                <a:latin typeface="Arial"/>
              </a:defRPr>
            </a:pPr>
            <a:r>
              <a:t>The extracted-package check reproduced 112 result tables, 15 processed tables and six figures.</a:t>
            </a:r>
          </a:p>
          <a:p>
            <a:pPr>
              <a:spcAft>
                <a:spcPts val="1400"/>
              </a:spcAft>
              <a:defRPr sz="2300" b="0">
                <a:solidFill>
                  <a:srgbClr val="202020"/>
                </a:solidFill>
                <a:latin typeface="Arial"/>
              </a:defRPr>
            </a:pPr>
            <a:r>
              <a:t>See README.md for installation and run commands; docs/sources.tsv lists accessions and access terms.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46304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1">
                <a:solidFill>
                  <a:srgbClr val="202020"/>
                </a:solidFill>
                <a:latin typeface="Arial"/>
              </a:defRPr>
            </a:pPr>
            <a:r>
              <a:t>Sources and contact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9672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6060"/>
                </a:solidFill>
                <a:latin typeface="Arial"/>
              </a:defRPr>
            </a:pPr>
            <a:r>
              <a:t>GeNeDis 2026  |  Xia Wu · University of Iowa  | 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606060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0584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0">
                <a:solidFill>
                  <a:srgbClr val="202020"/>
                </a:solidFill>
                <a:latin typeface="Arial"/>
              </a:defRPr>
            </a:pPr>
            <a:r>
              <a:t>Gupta et al., Nature Genetics 2023: GSE243917 atlas and author-defined states.</a:t>
            </a:r>
          </a:p>
          <a:p>
            <a:pPr>
              <a:spcAft>
                <a:spcPts val="1400"/>
              </a:spcAft>
              <a:defRPr sz="2000" b="0">
                <a:solidFill>
                  <a:srgbClr val="202020"/>
                </a:solidFill>
                <a:latin typeface="Arial"/>
              </a:defRPr>
            </a:pPr>
            <a:r>
              <a:t>Alivernini et al., Nature Medicine 2020: E-MTAB-8322 discovery cohort.</a:t>
            </a:r>
          </a:p>
          <a:p>
            <a:pPr>
              <a:spcAft>
                <a:spcPts val="1400"/>
              </a:spcAft>
              <a:defRPr sz="2000" b="0">
                <a:solidFill>
                  <a:srgbClr val="202020"/>
                </a:solidFill>
                <a:latin typeface="Arial"/>
              </a:defRPr>
            </a:pPr>
            <a:r>
              <a:t>GSE198520 / GSE89408: independent bulk cohorts.</a:t>
            </a:r>
          </a:p>
          <a:p>
            <a:pPr>
              <a:spcAft>
                <a:spcPts val="1400"/>
              </a:spcAft>
              <a:defRPr sz="2000" b="0">
                <a:solidFill>
                  <a:srgbClr val="202020"/>
                </a:solidFill>
                <a:latin typeface="Arial"/>
              </a:defRPr>
            </a:pPr>
            <a:r>
              <a:t>GSE347958 / GSE347797 / PXD062696: shared spatial/protein cohort.</a:t>
            </a:r>
          </a:p>
          <a:p>
            <a:pPr>
              <a:spcAft>
                <a:spcPts val="1400"/>
              </a:spcAft>
              <a:defRPr sz="2000" b="0">
                <a:solidFill>
                  <a:srgbClr val="202020"/>
                </a:solidFill>
                <a:latin typeface="Arial"/>
              </a:defRPr>
            </a:pPr>
            <a:r>
              <a:t>GSE296117 / LuCA / TCGA: exploratory extensions.</a:t>
            </a:r>
          </a:p>
          <a:p>
            <a:pPr>
              <a:spcAft>
                <a:spcPts val="1400"/>
              </a:spcAft>
              <a:defRPr sz="2000" b="0">
                <a:solidFill>
                  <a:srgbClr val="202020"/>
                </a:solidFill>
                <a:latin typeface="Arial"/>
              </a:defRPr>
            </a:pPr>
            <a:r>
              <a:t>All accessions and licences: docs/sources.tsv</a:t>
            </a:r>
          </a:p>
          <a:p>
            <a:pPr>
              <a:spcAft>
                <a:spcPts val="1400"/>
              </a:spcAft>
              <a:defRPr sz="2000" b="0">
                <a:solidFill>
                  <a:srgbClr val="202020"/>
                </a:solidFill>
                <a:latin typeface="Arial"/>
              </a:defRPr>
            </a:pPr>
            <a:r>
              <a:t>Xia Wu · PhD student, University of Iowa · xwu76@uiowa.edu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eutral Academic">
      <a:dk1>
        <a:srgbClr val="000000"/>
      </a:dk1>
      <a:lt1>
        <a:srgbClr val="FFFFFF"/>
      </a:lt1>
      <a:dk2>
        <a:srgbClr val="202020"/>
      </a:dk2>
      <a:lt2>
        <a:srgbClr val="F0F0F0"/>
      </a:lt2>
      <a:accent1>
        <a:srgbClr val="303030"/>
      </a:accent1>
      <a:accent2>
        <a:srgbClr val="606060"/>
      </a:accent2>
      <a:accent3>
        <a:srgbClr val="808080"/>
      </a:accent3>
      <a:accent4>
        <a:srgbClr val="A0A0A0"/>
      </a:accent4>
      <a:accent5>
        <a:srgbClr val="404040"/>
      </a:accent5>
      <a:accent6>
        <a:srgbClr val="C0C0C0"/>
      </a:accent6>
      <a:hlink>
        <a:srgbClr val="404040"/>
      </a:hlink>
      <a:folHlink>
        <a:srgbClr val="60606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 multi-omics evidence map (GeNeDis 2026)</dc:title>
  <dc:subject>GeNeDis 2026 Hackathon submission</dc:subject>
  <dc:creator>Xia Wu</dc:creator>
  <cp:keywords/>
  <dc:description/>
  <cp:lastModifiedBy>Xia Wu</cp:lastModifiedBy>
  <cp:revision>1</cp:revision>
  <dcterms:created xsi:type="dcterms:W3CDTF">2026-10-20T12:00:00Z</dcterms:created>
  <dcterms:modified xsi:type="dcterms:W3CDTF">2026-10-20T12:00:00Z</dcterms:modified>
  <cp:category/>
</cp:coreProperties>
</file>